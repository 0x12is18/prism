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2331720"/>
          </a:xfrm>
          <a:prstGeom prst="rect">
            <a:avLst/>
          </a:prstGeom>
          <a:ln>
            <a:noFill/>
          </a:ln>
          <a:gradFill>
            <a:gsLst>
              <a:gs pos="0">
                <a:srgbClr val="8B5CF6"/>
              </a:gs>
              <a:gs pos="100000">
                <a:srgbClr val="EC4899"/>
              </a:gs>
            </a:gsLst>
            <a:lin ang="7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95400" cy="8229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95400" y="0"/>
            <a:ext cx="1295400" cy="8229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90800" y="0"/>
            <a:ext cx="1295400" cy="8229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86200" y="0"/>
            <a:ext cx="1295400" cy="82296"/>
          </a:xfrm>
          <a:prstGeom prst="rect">
            <a:avLst/>
          </a:prstGeom>
          <a:solidFill>
            <a:srgbClr val="6EC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1600" y="0"/>
            <a:ext cx="1295400" cy="82296"/>
          </a:xfrm>
          <a:prstGeom prst="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77000" y="0"/>
            <a:ext cx="1295400" cy="8229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" y="201168"/>
            <a:ext cx="749808" cy="749808"/>
          </a:xfrm>
          <a:prstGeom prst="round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" y="237744"/>
            <a:ext cx="731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Nunito"/>
              </a:rPr>
              <a:t>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55448"/>
            <a:ext cx="630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Nunito"/>
              </a:rPr>
              <a:t>KINDERGARTEN NEWSLETTER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383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Fredoka One"/>
              </a:rPr>
              <a:t>Mrs. Johnson's Kindergarten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97840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Nunito"/>
              </a:rPr>
              <a:t>Room 5  ·  Sunshine Elementary School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" y="1353312"/>
            <a:ext cx="2468880" cy="237744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" y="13898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Nunito"/>
              </a:rPr>
              <a:t>📅  Week of June 30,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1353312"/>
            <a:ext cx="2103120" cy="237744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1389888"/>
            <a:ext cx="2011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Nunito"/>
              </a:rPr>
              <a:t>📖  Volume 36 — Issue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1353312"/>
            <a:ext cx="2560320" cy="237744"/>
          </a:xfrm>
          <a:prstGeom prst="round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1389888"/>
            <a:ext cx="2468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Nunito"/>
              </a:rPr>
              <a:t>🌈  End-of-Year Edition</a:t>
            </a:r>
          </a:p>
        </p:txBody>
      </p:sp>
      <p:sp>
        <p:nvSpPr>
          <p:cNvPr id="21" name="Oval 20"/>
          <p:cNvSpPr/>
          <p:nvPr/>
        </p:nvSpPr>
        <p:spPr>
          <a:xfrm>
            <a:off x="0" y="2130551"/>
            <a:ext cx="7772400" cy="329184"/>
          </a:xfrm>
          <a:prstGeom prst="ellipse">
            <a:avLst/>
          </a:prstGeom>
          <a:solidFill>
            <a:srgbClr val="FFF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4884" y="2409444"/>
            <a:ext cx="3584448" cy="1874519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2880" y="2377440"/>
            <a:ext cx="3584448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377440"/>
            <a:ext cx="3584448" cy="59436"/>
          </a:xfrm>
          <a:prstGeom prst="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" y="2377440"/>
            <a:ext cx="3584448" cy="118872"/>
          </a:xfrm>
          <a:prstGeom prst="round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436876"/>
            <a:ext cx="3584448" cy="64008"/>
          </a:xfrm>
          <a:prstGeom prst="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0896" y="2523744"/>
            <a:ext cx="347472" cy="347472"/>
          </a:xfrm>
          <a:prstGeom prst="roundRect">
            <a:avLst/>
          </a:prstGeom>
          <a:solidFill>
            <a:srgbClr val="D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" y="2523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8C4"/>
                </a:solidFill>
                <a:latin typeface="Nunito"/>
              </a:rPr>
              <a:t>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560320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8C4"/>
                </a:solidFill>
                <a:latin typeface="Fredoka One"/>
              </a:rPr>
              <a:t>What We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" y="2944368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" y="2944368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Reading: sounded out short vowel words &amp; hit 100 sight words!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" y="3182112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" y="3182112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Math: counting by 2s and 5s using snap cubes &amp; number 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" y="3419856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" y="3419856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Science: planted bean seeds &amp; made predictions.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65760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" y="3657600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Art: watercolour butterflies — ask to see theirs!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4884" y="4448556"/>
            <a:ext cx="3584448" cy="2011680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2880" y="4416552"/>
            <a:ext cx="3584448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2880" y="4416552"/>
            <a:ext cx="3584448" cy="5943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2880" y="4416552"/>
            <a:ext cx="3584448" cy="118872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4475988"/>
            <a:ext cx="3584448" cy="6400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10896" y="4562856"/>
            <a:ext cx="347472" cy="347472"/>
          </a:xfrm>
          <a:prstGeom prst="round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45628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8A00"/>
                </a:solidFill>
                <a:latin typeface="Nunito"/>
              </a:rPr>
              <a:t>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599432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8A00"/>
                </a:solidFill>
                <a:latin typeface="Fredoka One"/>
              </a:rPr>
              <a:t>Star of the Week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0896" y="4983480"/>
            <a:ext cx="512064" cy="512064"/>
          </a:xfrm>
          <a:prstGeom prst="roundRect">
            <a:avLst/>
          </a:prstGeom>
          <a:ln>
            <a:noFill/>
          </a:ln>
          <a:gradFill>
            <a:gsLst>
              <a:gs pos="0">
                <a:srgbClr val="FFD93D"/>
              </a:gs>
              <a:gs pos="100000">
                <a:srgbClr val="FF8C4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498348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Nunito"/>
              </a:rPr>
              <a:t>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4983480"/>
            <a:ext cx="27431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2D3A"/>
                </a:solidFill>
                <a:latin typeface="Fredoka One"/>
              </a:rPr>
              <a:t>Sofia Martinez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221224"/>
            <a:ext cx="274319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A72"/>
                </a:solidFill>
                <a:latin typeface="Nunito"/>
              </a:rPr>
              <a:t>Age 6  ·  Loves dinosaurs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0896" y="5605272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" y="5605272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Always helps classmates when they feel stuck.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0896" y="5843016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" y="5843016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Can name every dinosaur in our class library!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" y="60807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" y="6080760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Wrote her very first full sentence this week!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4884" y="6624828"/>
            <a:ext cx="3584448" cy="1737360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82880" y="6592824"/>
            <a:ext cx="3584448" cy="1737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2880" y="6592824"/>
            <a:ext cx="3584448" cy="5943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82880" y="6592824"/>
            <a:ext cx="3584448" cy="118872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82880" y="6652260"/>
            <a:ext cx="3584448" cy="640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10896" y="6739128"/>
            <a:ext cx="347472" cy="347472"/>
          </a:xfrm>
          <a:prstGeom prst="roundRect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" y="67391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63870"/>
                </a:solidFill>
                <a:latin typeface="Nunito"/>
              </a:rPr>
              <a:t>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775704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63870"/>
                </a:solidFill>
                <a:latin typeface="Fredoka One"/>
              </a:rPr>
              <a:t>Ask Me About…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" y="7159752"/>
            <a:ext cx="3328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A5A72"/>
                </a:solidFill>
                <a:latin typeface="Nunito"/>
              </a:rPr>
              <a:t>Use these topics to spark a conversation on the drive home!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0896" y="7397496"/>
            <a:ext cx="1627631" cy="219456"/>
          </a:xfrm>
          <a:prstGeom prst="roundRect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7434071"/>
            <a:ext cx="1536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63870"/>
                </a:solidFill>
                <a:latin typeface="Nunito"/>
              </a:rPr>
              <a:t>Bean seeds 🌱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011679" y="7397496"/>
            <a:ext cx="1627631" cy="219456"/>
          </a:xfrm>
          <a:prstGeom prst="roundRect">
            <a:avLst/>
          </a:prstGeom>
          <a:solidFill>
            <a:srgbClr val="D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66543" y="7434071"/>
            <a:ext cx="1536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88C4"/>
                </a:solidFill>
                <a:latin typeface="Nunito"/>
              </a:rPr>
              <a:t>Counting by 5s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0896" y="7671816"/>
            <a:ext cx="1627631" cy="219456"/>
          </a:xfrm>
          <a:prstGeom prst="round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7708392"/>
            <a:ext cx="1536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49D6"/>
                </a:solidFill>
                <a:latin typeface="Nunito"/>
              </a:rPr>
              <a:t>My butterfly art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011679" y="7671816"/>
            <a:ext cx="1627631" cy="219456"/>
          </a:xfrm>
          <a:prstGeom prst="roundRect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66543" y="7708392"/>
            <a:ext cx="1536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8A00"/>
                </a:solidFill>
                <a:latin typeface="Nunito"/>
              </a:rPr>
              <a:t>Our class pet 🐢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0896" y="7946136"/>
            <a:ext cx="1627631" cy="219456"/>
          </a:xfrm>
          <a:prstGeom prst="roundRect">
            <a:avLst/>
          </a:prstGeom>
          <a:solidFill>
            <a:srgbClr val="D5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7982711"/>
            <a:ext cx="1536191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E9A22"/>
                </a:solidFill>
                <a:latin typeface="Nunito"/>
              </a:rPr>
              <a:t>My new sight words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037076" y="2409444"/>
            <a:ext cx="3584448" cy="2267712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005072" y="2377440"/>
            <a:ext cx="3584448" cy="22677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005072" y="2377440"/>
            <a:ext cx="3584448" cy="594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005072" y="2377440"/>
            <a:ext cx="3584448" cy="1188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05072" y="2436876"/>
            <a:ext cx="358444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133087" y="2523744"/>
            <a:ext cx="347472" cy="347472"/>
          </a:xfrm>
          <a:prstGeom prst="round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33087" y="2523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D49D6"/>
                </a:solidFill>
                <a:latin typeface="Nunito"/>
              </a:rPr>
              <a:t>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53712" y="2560320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9D6"/>
                </a:solidFill>
                <a:latin typeface="Fredoka One"/>
              </a:rPr>
              <a:t>Upcoming Events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33087" y="2944368"/>
            <a:ext cx="384048" cy="384048"/>
          </a:xfrm>
          <a:prstGeom prst="roundRect">
            <a:avLst/>
          </a:prstGeom>
          <a:ln>
            <a:noFill/>
          </a:ln>
          <a:gradFill>
            <a:gsLst>
              <a:gs pos="0">
                <a:srgbClr val="A78BFA"/>
              </a:gs>
              <a:gs pos="100000">
                <a:srgbClr val="6BCBF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33087" y="2944368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 One"/>
              </a:rPr>
              <a:t>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33087" y="3145536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unito"/>
              </a:rPr>
              <a:t>JUN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90288" y="2962656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3A"/>
                </a:solidFill>
                <a:latin typeface="Nunito"/>
              </a:rPr>
              <a:t>Field Day 🏃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90288" y="3145536"/>
            <a:ext cx="28712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A72"/>
                </a:solidFill>
                <a:latin typeface="Nunito"/>
              </a:rPr>
              <a:t>Wear sneakers &amp; bring water!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33087" y="3419856"/>
            <a:ext cx="384048" cy="384048"/>
          </a:xfrm>
          <a:prstGeom prst="roundRect">
            <a:avLst/>
          </a:prstGeom>
          <a:ln>
            <a:noFill/>
          </a:ln>
          <a:gradFill>
            <a:gsLst>
              <a:gs pos="0">
                <a:srgbClr val="FF6B9D"/>
              </a:gs>
              <a:gs pos="100000">
                <a:srgbClr val="FF8C42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33087" y="341985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 One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33087" y="3621024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unito"/>
              </a:rPr>
              <a:t>JUL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90288" y="3438144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3A"/>
                </a:solidFill>
                <a:latin typeface="Nunito"/>
              </a:rPr>
              <a:t>Book Character Parade 🎭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90288" y="3621024"/>
            <a:ext cx="28712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A72"/>
                </a:solidFill>
                <a:latin typeface="Nunito"/>
              </a:rPr>
              <a:t>Dress as your favourite character.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133087" y="3895344"/>
            <a:ext cx="384048" cy="384048"/>
          </a:xfrm>
          <a:prstGeom prst="roundRect">
            <a:avLst/>
          </a:prstGeom>
          <a:ln>
            <a:noFill/>
          </a:ln>
          <a:gradFill>
            <a:gsLst>
              <a:gs pos="0">
                <a:srgbClr val="6ECB63"/>
              </a:gs>
              <a:gs pos="100000">
                <a:srgbClr val="6BCBF0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33087" y="389534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 One"/>
              </a:rPr>
              <a:t>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33087" y="4096511"/>
            <a:ext cx="3840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Nunito"/>
              </a:rPr>
              <a:t>JUL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0288" y="3913631"/>
            <a:ext cx="28712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3A"/>
                </a:solidFill>
                <a:latin typeface="Nunito"/>
              </a:rPr>
              <a:t>Year-End Celebration 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90288" y="4096511"/>
            <a:ext cx="28712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A5A72"/>
                </a:solidFill>
                <a:latin typeface="Nunito"/>
              </a:rPr>
              <a:t>Parents welcome — 2:00 PM in gym.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037076" y="4841748"/>
            <a:ext cx="3584448" cy="1828800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005072" y="4809744"/>
            <a:ext cx="358444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005072" y="4809744"/>
            <a:ext cx="3584448" cy="59436"/>
          </a:xfrm>
          <a:prstGeom prst="rect">
            <a:avLst/>
          </a:prstGeom>
          <a:solidFill>
            <a:srgbClr val="6EC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005072" y="4809744"/>
            <a:ext cx="3584448" cy="118872"/>
          </a:xfrm>
          <a:prstGeom prst="roundRect">
            <a:avLst/>
          </a:prstGeom>
          <a:solidFill>
            <a:srgbClr val="6EC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05072" y="4869180"/>
            <a:ext cx="3584448" cy="64008"/>
          </a:xfrm>
          <a:prstGeom prst="rect">
            <a:avLst/>
          </a:prstGeom>
          <a:solidFill>
            <a:srgbClr val="6EC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133087" y="4956048"/>
            <a:ext cx="347472" cy="347472"/>
          </a:xfrm>
          <a:prstGeom prst="roundRect">
            <a:avLst/>
          </a:prstGeom>
          <a:solidFill>
            <a:srgbClr val="D5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33087" y="49560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9A22"/>
                </a:solidFill>
                <a:latin typeface="Nunito"/>
              </a:rPr>
              <a:t>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53712" y="4992624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A22"/>
                </a:solidFill>
                <a:latin typeface="Fredoka One"/>
              </a:rPr>
              <a:t>Important Reminders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33087" y="5376672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📌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88536" y="5376672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Return library books by Friday, July 4th.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133087" y="5614416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88536" y="5614416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Show-and-tell next Tuesday — bring something starting with M.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33087" y="5852160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88536" y="5852160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Sunscreen &amp; a hat needed every day this week.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133087" y="6089904"/>
            <a:ext cx="164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0A0C0"/>
                </a:solidFill>
                <a:latin typeface="Nunito"/>
              </a:rPr>
              <a:t>📌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88536" y="6089904"/>
            <a:ext cx="3172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Supply wish list sent home — thank you for your support!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037076" y="6835140"/>
            <a:ext cx="3584448" cy="1508760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4005072" y="6803136"/>
            <a:ext cx="3584448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005072" y="6803136"/>
            <a:ext cx="3584448" cy="5943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4005072" y="6803136"/>
            <a:ext cx="3584448" cy="118872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005072" y="6862572"/>
            <a:ext cx="3584448" cy="640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4133087" y="6949440"/>
            <a:ext cx="347472" cy="347472"/>
          </a:xfrm>
          <a:prstGeom prst="roundRect">
            <a:avLst/>
          </a:prstGeom>
          <a:solidFill>
            <a:srgbClr val="FF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33087" y="69494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05E00"/>
                </a:solidFill>
                <a:latin typeface="Nunito"/>
              </a:rPr>
              <a:t>💌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53712" y="6986016"/>
            <a:ext cx="29077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E00"/>
                </a:solidFill>
                <a:latin typeface="Fredoka One"/>
              </a:rPr>
              <a:t>Note From the Teacher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33087" y="7370063"/>
            <a:ext cx="332841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A5A72"/>
                </a:solidFill>
                <a:latin typeface="Nunito"/>
              </a:rPr>
              <a:t>What an incredible year! I see so much growth in each child — in reading, maths, kindness and confidence. Thank you for trusting me with your little ones. It has been my honour.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133087" y="8174736"/>
            <a:ext cx="3328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2D3A"/>
                </a:solidFill>
                <a:latin typeface="Nunito"/>
              </a:rPr>
              <a:t>With love, Mrs. Johnson 🌷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14884" y="8526780"/>
            <a:ext cx="7406640" cy="1261872"/>
          </a:xfrm>
          <a:prstGeom prst="roundRect">
            <a:avLst/>
          </a:prstGeom>
          <a:solidFill>
            <a:srgbClr val="E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82880" y="8494776"/>
            <a:ext cx="7406640" cy="12618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82880" y="8494776"/>
            <a:ext cx="7406640" cy="59436"/>
          </a:xfrm>
          <a:prstGeom prst="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82880" y="8494776"/>
            <a:ext cx="7406640" cy="118872"/>
          </a:xfrm>
          <a:prstGeom prst="round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82880" y="8554211"/>
            <a:ext cx="7406640" cy="64008"/>
          </a:xfrm>
          <a:prstGeom prst="rect">
            <a:avLst/>
          </a:prstGeom>
          <a:solidFill>
            <a:srgbClr val="6BC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10896" y="8641080"/>
            <a:ext cx="347472" cy="347472"/>
          </a:xfrm>
          <a:prstGeom prst="roundRect">
            <a:avLst/>
          </a:prstGeom>
          <a:solidFill>
            <a:srgbClr val="D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10896" y="86410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88C4"/>
                </a:solidFill>
                <a:latin typeface="Nunito"/>
              </a:rPr>
              <a:t>🔤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31520" y="8677655"/>
            <a:ext cx="67299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8C4"/>
                </a:solidFill>
                <a:latin typeface="Fredoka One"/>
              </a:rPr>
              <a:t>This Week's Big Words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10896" y="9061703"/>
            <a:ext cx="1725929" cy="457200"/>
          </a:xfrm>
          <a:prstGeom prst="roundRect">
            <a:avLst/>
          </a:prstGeom>
          <a:solidFill>
            <a:srgbClr val="D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02336" y="9107424"/>
            <a:ext cx="15979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88C4"/>
                </a:solidFill>
                <a:latin typeface="Nunito"/>
              </a:rPr>
              <a:t>Germinate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02336" y="9281159"/>
            <a:ext cx="159791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72"/>
                </a:solidFill>
                <a:latin typeface="Nunito"/>
              </a:rPr>
              <a:t>When a seed sprouts, grows roots and a shoot.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119122" y="9061703"/>
            <a:ext cx="1725929" cy="457200"/>
          </a:xfrm>
          <a:prstGeom prst="roundRect">
            <a:avLst/>
          </a:prstGeom>
          <a:solidFill>
            <a:srgbClr val="D5F5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210562" y="9107424"/>
            <a:ext cx="15979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9A22"/>
                </a:solidFill>
                <a:latin typeface="Nunito"/>
              </a:rPr>
              <a:t>Predict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210562" y="9281159"/>
            <a:ext cx="159791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72"/>
                </a:solidFill>
                <a:latin typeface="Nunito"/>
              </a:rPr>
              <a:t>A smart guess about what will happen next.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927348" y="9061703"/>
            <a:ext cx="1725929" cy="457200"/>
          </a:xfrm>
          <a:prstGeom prst="roundRect">
            <a:avLst/>
          </a:prstGeom>
          <a:solidFill>
            <a:srgbClr val="FF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018787" y="9107424"/>
            <a:ext cx="15979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3870"/>
                </a:solidFill>
                <a:latin typeface="Nunito"/>
              </a:rPr>
              <a:t>Pattern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18787" y="9281159"/>
            <a:ext cx="159791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72"/>
                </a:solidFill>
                <a:latin typeface="Nunito"/>
              </a:rPr>
              <a:t>Something repeating in order — like A-B-A-B!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735573" y="9061703"/>
            <a:ext cx="1725929" cy="457200"/>
          </a:xfrm>
          <a:prstGeom prst="roundRect">
            <a:avLst/>
          </a:prstGeom>
          <a:solidFill>
            <a:srgbClr val="ED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827013" y="9107424"/>
            <a:ext cx="159791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D49D6"/>
                </a:solidFill>
                <a:latin typeface="Nunito"/>
              </a:rPr>
              <a:t>Symmetry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27013" y="9281159"/>
            <a:ext cx="159791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5A72"/>
                </a:solidFill>
                <a:latin typeface="Nunito"/>
              </a:rPr>
              <a:t>Both sides look the same — like our butterflies!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0" y="9921239"/>
            <a:ext cx="7772400" cy="91440"/>
          </a:xfrm>
          <a:prstGeom prst="rect">
            <a:avLst/>
          </a:prstGeom>
          <a:ln>
            <a:noFill/>
          </a:ln>
          <a:gradFill>
            <a:gsLst>
              <a:gs pos="0">
                <a:srgbClr val="F5F0FF"/>
              </a:gs>
              <a:gs pos="100000">
                <a:srgbClr val="E8F8FF"/>
              </a:gs>
            </a:gsLst>
            <a:lin ang="108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74320" y="1003096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Fredoka One"/>
              </a:rPr>
              <a:t>Get in Touch 👋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74320" y="10314431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Nunito"/>
              </a:rPr>
              <a:t>📧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30352" y="10314431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72"/>
                </a:solidFill>
                <a:latin typeface="Nunito"/>
              </a:rPr>
              <a:t>johnson.k@sunshineelem.edu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74320" y="10524743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Nunito"/>
              </a:rPr>
              <a:t>📞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30352" y="10524743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72"/>
                </a:solidFill>
                <a:latin typeface="Nunito"/>
              </a:rPr>
              <a:t>(555) 820-3301 — voicemail anytime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4320" y="10735055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Nunito"/>
              </a:rPr>
              <a:t>🕐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0352" y="10735055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72"/>
                </a:solidFill>
                <a:latin typeface="Nunito"/>
              </a:rPr>
              <a:t>Office hours: Mon &amp; Wed 3:00 – 4:00 PM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74320" y="10945367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Nunito"/>
              </a:rPr>
              <a:t>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30352" y="10945367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72"/>
                </a:solidFill>
                <a:latin typeface="Nunito"/>
              </a:rPr>
              <a:t>classroom.sunshineelem.edu/johnson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303520" y="10040111"/>
            <a:ext cx="2212848" cy="-164591"/>
          </a:xfrm>
          <a:prstGeom prst="roundRect">
            <a:avLst/>
          </a:prstGeom>
          <a:ln>
            <a:noFill/>
          </a:ln>
          <a:gradFill>
            <a:gsLst>
              <a:gs pos="0">
                <a:srgbClr val="A78BFA"/>
              </a:gs>
              <a:gs pos="100000">
                <a:srgbClr val="FF6B9D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303520" y="10122407"/>
            <a:ext cx="22128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Nunito"/>
              </a:rPr>
              <a:t>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303520" y="10524743"/>
            <a:ext cx="22128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 One"/>
              </a:rPr>
              <a:t>Happy Learning!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